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749"/>
    <p:restoredTop sz="94651"/>
  </p:normalViewPr>
  <p:slideViewPr>
    <p:cSldViewPr snapToGrid="0" snapToObjects="1">
      <p:cViewPr varScale="1">
        <p:scale>
          <a:sx n="213" d="100"/>
          <a:sy n="213" d="100"/>
        </p:scale>
        <p:origin x="1064"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8446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60-second BNI visitor intro — Lebogang.</a:t>
            </a:r>
          </a:p>
          <a:p>
            <a:endParaRPr/>
          </a:p>
          <a:p>
            <a:r>
              <a:t>Plug A Pro is a WhatsApp-first local services marketplace. We connect customers with local service providers for home and business maintenance — plumbing, electrical, handywork, painting, and more.</a:t>
            </a:r>
          </a:p>
          <a:p>
            <a:endParaRPr/>
          </a:p>
          <a:p>
            <a:r>
              <a:t>Customers send 'JOIN' on WhatsApp or scan the QR code on the slide. We help them describe the job, route it to nearby providers, and keep them updated as the work moves.</a:t>
            </a:r>
          </a:p>
          <a:p>
            <a:endParaRPr/>
          </a:p>
          <a:p>
            <a:r>
              <a:t>Good referral for me today: anyone with a maintenance job they keep putting off, or any local service provider who wants more consistent work. Scan to learn more or join the local rollout.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Group 35">
            <a:extLst>
              <a:ext uri="{FF2B5EF4-FFF2-40B4-BE49-F238E27FC236}">
                <a16:creationId xmlns:a16="http://schemas.microsoft.com/office/drawing/2014/main" id="{940EA939-C120-1C19-6988-ADF6F4FEF834}"/>
              </a:ext>
            </a:extLst>
          </p:cNvPr>
          <p:cNvGrpSpPr/>
          <p:nvPr/>
        </p:nvGrpSpPr>
        <p:grpSpPr>
          <a:xfrm>
            <a:off x="0" y="0"/>
            <a:ext cx="12192000" cy="6858000"/>
            <a:chOff x="0" y="0"/>
            <a:chExt cx="12192000" cy="6858000"/>
          </a:xfrm>
        </p:grpSpPr>
        <p:pic>
          <p:nvPicPr>
            <p:cNvPr id="2" name="Picture 1" descr="navy_panel.png"/>
            <p:cNvPicPr>
              <a:picLocks noChangeAspect="1"/>
            </p:cNvPicPr>
            <p:nvPr/>
          </p:nvPicPr>
          <p:blipFill>
            <a:blip r:embed="rId3"/>
            <a:stretch>
              <a:fillRect/>
            </a:stretch>
          </p:blipFill>
          <p:spPr>
            <a:xfrm>
              <a:off x="0" y="0"/>
              <a:ext cx="7040880" cy="6858000"/>
            </a:xfrm>
            <a:prstGeom prst="rect">
              <a:avLst/>
            </a:prstGeom>
          </p:spPr>
        </p:pic>
        <p:pic>
          <p:nvPicPr>
            <p:cNvPr id="3" name="Picture 2" descr="hero_panel.png"/>
            <p:cNvPicPr>
              <a:picLocks noChangeAspect="1"/>
            </p:cNvPicPr>
            <p:nvPr/>
          </p:nvPicPr>
          <p:blipFill>
            <a:blip r:embed="rId4"/>
            <a:stretch>
              <a:fillRect/>
            </a:stretch>
          </p:blipFill>
          <p:spPr>
            <a:xfrm>
              <a:off x="7040880" y="0"/>
              <a:ext cx="5151120" cy="6858000"/>
            </a:xfrm>
            <a:prstGeom prst="rect">
              <a:avLst/>
            </a:prstGeom>
          </p:spPr>
        </p:pic>
        <p:sp>
          <p:nvSpPr>
            <p:cNvPr id="4" name="Rectangle 3"/>
            <p:cNvSpPr/>
            <p:nvPr/>
          </p:nvSpPr>
          <p:spPr>
            <a:xfrm>
              <a:off x="7018020" y="0"/>
              <a:ext cx="45720" cy="6858000"/>
            </a:xfrm>
            <a:prstGeom prst="rect">
              <a:avLst/>
            </a:prstGeom>
            <a:solidFill>
              <a:srgbClr val="2BB6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319615"/>
              <a:ext cx="6400800" cy="2585323"/>
            </a:xfrm>
            <a:prstGeom prst="rect">
              <a:avLst/>
            </a:prstGeom>
            <a:noFill/>
          </p:spPr>
          <p:txBody>
            <a:bodyPr wrap="square" lIns="0" tIns="0" rIns="0" bIns="0" anchor="ctr">
              <a:spAutoFit/>
            </a:bodyPr>
            <a:lstStyle/>
            <a:p>
              <a:pPr algn="l">
                <a:lnSpc>
                  <a:spcPct val="100000"/>
                </a:lnSpc>
              </a:pPr>
              <a:r>
                <a:rPr sz="5600" b="1" i="0" dirty="0">
                  <a:solidFill>
                    <a:srgbClr val="FFFFFF"/>
                  </a:solidFill>
                  <a:latin typeface="Calibri"/>
                </a:rPr>
                <a:t>Connecting Local Skills</a:t>
              </a:r>
            </a:p>
            <a:p>
              <a:pPr algn="l">
                <a:lnSpc>
                  <a:spcPct val="100000"/>
                </a:lnSpc>
              </a:pPr>
              <a:r>
                <a:rPr sz="5600" b="1" i="0" dirty="0">
                  <a:solidFill>
                    <a:srgbClr val="2BB673"/>
                  </a:solidFill>
                  <a:latin typeface="Calibri"/>
                </a:rPr>
                <a:t>to Local Work.</a:t>
              </a:r>
            </a:p>
          </p:txBody>
        </p:sp>
        <p:sp>
          <p:nvSpPr>
            <p:cNvPr id="6" name="TextBox 5"/>
            <p:cNvSpPr txBox="1"/>
            <p:nvPr/>
          </p:nvSpPr>
          <p:spPr>
            <a:xfrm>
              <a:off x="530352" y="1042953"/>
              <a:ext cx="6217920" cy="169277"/>
            </a:xfrm>
            <a:prstGeom prst="rect">
              <a:avLst/>
            </a:prstGeom>
            <a:noFill/>
          </p:spPr>
          <p:txBody>
            <a:bodyPr wrap="square" lIns="0" tIns="0" rIns="0" bIns="0" anchor="ctr">
              <a:spAutoFit/>
            </a:bodyPr>
            <a:lstStyle/>
            <a:p>
              <a:pPr algn="l"/>
              <a:r>
                <a:rPr sz="1100" b="1" i="0" dirty="0">
                  <a:solidFill>
                    <a:srgbClr val="2BB673"/>
                  </a:solidFill>
                  <a:latin typeface="Calibri"/>
                </a:rPr>
                <a:t>LOCAL SERVICES MARKETPLACE  ·  WHATSAPP-FIRST</a:t>
              </a:r>
            </a:p>
          </p:txBody>
        </p:sp>
        <p:grpSp>
          <p:nvGrpSpPr>
            <p:cNvPr id="27" name="Group 26">
              <a:extLst>
                <a:ext uri="{FF2B5EF4-FFF2-40B4-BE49-F238E27FC236}">
                  <a16:creationId xmlns:a16="http://schemas.microsoft.com/office/drawing/2014/main" id="{5293917E-D7B4-3822-FFF9-D13F4FE21FC8}"/>
                </a:ext>
              </a:extLst>
            </p:cNvPr>
            <p:cNvGrpSpPr/>
            <p:nvPr/>
          </p:nvGrpSpPr>
          <p:grpSpPr>
            <a:xfrm>
              <a:off x="502920" y="4078125"/>
              <a:ext cx="4206240" cy="502920"/>
              <a:chOff x="502920" y="3931920"/>
              <a:chExt cx="4206240" cy="502920"/>
            </a:xfrm>
          </p:grpSpPr>
          <p:sp>
            <p:nvSpPr>
              <p:cNvPr id="8" name="Rounded Rectangle 7"/>
              <p:cNvSpPr/>
              <p:nvPr/>
            </p:nvSpPr>
            <p:spPr>
              <a:xfrm>
                <a:off x="502920" y="3931920"/>
                <a:ext cx="4206240" cy="502920"/>
              </a:xfrm>
              <a:prstGeom prst="roundRect">
                <a:avLst>
                  <a:gd name="adj" fmla="val 50000"/>
                </a:avLst>
              </a:prstGeom>
              <a:solidFill>
                <a:srgbClr val="06112A"/>
              </a:solidFill>
              <a:ln w="15875">
                <a:solidFill>
                  <a:srgbClr val="2BB6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4075658"/>
                <a:ext cx="4206240" cy="215444"/>
              </a:xfrm>
              <a:prstGeom prst="rect">
                <a:avLst/>
              </a:prstGeom>
              <a:noFill/>
            </p:spPr>
            <p:txBody>
              <a:bodyPr wrap="square" lIns="0" tIns="0" rIns="0" bIns="0" anchor="ctr">
                <a:spAutoFit/>
              </a:bodyPr>
              <a:lstStyle/>
              <a:p>
                <a:pPr algn="ctr"/>
                <a:r>
                  <a:rPr sz="1400" b="1" i="0">
                    <a:solidFill>
                      <a:srgbClr val="FFFFFF"/>
                    </a:solidFill>
                    <a:latin typeface="Calibri"/>
                  </a:rPr>
                  <a:t>Home &amp; business maintenance, booked on WhatsApp</a:t>
                </a:r>
              </a:p>
            </p:txBody>
          </p:sp>
        </p:grpSp>
        <p:sp>
          <p:nvSpPr>
            <p:cNvPr id="10" name="TextBox 9"/>
            <p:cNvSpPr txBox="1"/>
            <p:nvPr/>
          </p:nvSpPr>
          <p:spPr>
            <a:xfrm>
              <a:off x="502920" y="4754683"/>
              <a:ext cx="6400800" cy="1097673"/>
            </a:xfrm>
            <a:prstGeom prst="rect">
              <a:avLst/>
            </a:prstGeom>
            <a:noFill/>
          </p:spPr>
          <p:txBody>
            <a:bodyPr wrap="square" lIns="0" tIns="0" rIns="0" bIns="0" anchor="ctr">
              <a:spAutoFit/>
            </a:bodyPr>
            <a:lstStyle/>
            <a:p>
              <a:pPr algn="l">
                <a:lnSpc>
                  <a:spcPct val="130000"/>
                </a:lnSpc>
              </a:pPr>
              <a:r>
                <a:rPr sz="1400" b="0" i="0" dirty="0">
                  <a:solidFill>
                    <a:srgbClr val="DDE3F1"/>
                  </a:solidFill>
                  <a:latin typeface="Calibri"/>
                </a:rPr>
                <a:t>Plug A Pro is a simple way for households and businesses to find local service providers</a:t>
              </a:r>
              <a:r>
                <a:rPr lang="en-GB" sz="1400" b="0" i="0" dirty="0">
                  <a:solidFill>
                    <a:srgbClr val="DDE3F1"/>
                  </a:solidFill>
                  <a:latin typeface="Calibri"/>
                </a:rPr>
                <a:t>, </a:t>
              </a:r>
              <a:r>
                <a:rPr sz="1400" b="0" i="0" dirty="0">
                  <a:solidFill>
                    <a:srgbClr val="DDE3F1"/>
                  </a:solidFill>
                  <a:latin typeface="Calibri"/>
                </a:rPr>
                <a:t>from plumbing and </a:t>
              </a:r>
              <a:r>
                <a:rPr lang="en-GB" sz="1400" b="0" i="0" dirty="0">
                  <a:solidFill>
                    <a:srgbClr val="DDE3F1"/>
                  </a:solidFill>
                  <a:latin typeface="Calibri"/>
                </a:rPr>
                <a:t>tiling</a:t>
              </a:r>
              <a:r>
                <a:rPr sz="1400" b="0" i="0" dirty="0">
                  <a:solidFill>
                    <a:srgbClr val="DDE3F1"/>
                  </a:solidFill>
                  <a:latin typeface="Calibri"/>
                </a:rPr>
                <a:t> work to handywork, painting and beyond. </a:t>
              </a:r>
              <a:r>
                <a:rPr lang="en-GB" sz="1400" b="0" i="0" dirty="0">
                  <a:solidFill>
                    <a:srgbClr val="DDE3F1"/>
                  </a:solidFill>
                  <a:latin typeface="Calibri"/>
                </a:rPr>
                <a:t>Simply</a:t>
              </a:r>
              <a:r>
                <a:rPr sz="1400" b="0" i="0" dirty="0">
                  <a:solidFill>
                    <a:srgbClr val="DDE3F1"/>
                  </a:solidFill>
                  <a:latin typeface="Calibri"/>
                </a:rPr>
                <a:t> send 'JOIN' on WhatsApp, we route the job to nearby providers and updates flow back as the work moves.</a:t>
              </a:r>
            </a:p>
          </p:txBody>
        </p:sp>
        <p:grpSp>
          <p:nvGrpSpPr>
            <p:cNvPr id="28" name="Group 27">
              <a:extLst>
                <a:ext uri="{FF2B5EF4-FFF2-40B4-BE49-F238E27FC236}">
                  <a16:creationId xmlns:a16="http://schemas.microsoft.com/office/drawing/2014/main" id="{3A1AECEA-E086-84D6-0AB6-8455284F7A66}"/>
                </a:ext>
              </a:extLst>
            </p:cNvPr>
            <p:cNvGrpSpPr/>
            <p:nvPr/>
          </p:nvGrpSpPr>
          <p:grpSpPr>
            <a:xfrm>
              <a:off x="502920" y="6199632"/>
              <a:ext cx="3840480" cy="384048"/>
              <a:chOff x="502920" y="6199632"/>
              <a:chExt cx="3840480" cy="384048"/>
            </a:xfrm>
          </p:grpSpPr>
          <p:sp>
            <p:nvSpPr>
              <p:cNvPr id="11" name="Rounded Rectangle 10"/>
              <p:cNvSpPr/>
              <p:nvPr/>
            </p:nvSpPr>
            <p:spPr>
              <a:xfrm>
                <a:off x="502920" y="6199632"/>
                <a:ext cx="3840480" cy="384048"/>
              </a:xfrm>
              <a:prstGeom prst="roundRect">
                <a:avLst>
                  <a:gd name="adj" fmla="val 50000"/>
                </a:avLst>
              </a:prstGeom>
              <a:solidFill>
                <a:srgbClr val="E07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6307017"/>
                <a:ext cx="3840480" cy="169277"/>
              </a:xfrm>
              <a:prstGeom prst="rect">
                <a:avLst/>
              </a:prstGeom>
              <a:noFill/>
            </p:spPr>
            <p:txBody>
              <a:bodyPr wrap="square" lIns="0" tIns="0" rIns="0" bIns="0" anchor="ctr">
                <a:spAutoFit/>
              </a:bodyPr>
              <a:lstStyle/>
              <a:p>
                <a:pPr algn="ctr"/>
                <a:r>
                  <a:rPr sz="1100" b="1" i="0" dirty="0">
                    <a:solidFill>
                      <a:srgbClr val="FFFFFF"/>
                    </a:solidFill>
                    <a:latin typeface="Calibri"/>
                  </a:rPr>
                  <a:t>BNI Prosper</a:t>
                </a:r>
                <a:r>
                  <a:rPr lang="en-GB" sz="1100" b="1" i="0" dirty="0">
                    <a:solidFill>
                      <a:srgbClr val="FFFFFF"/>
                    </a:solidFill>
                    <a:latin typeface="Calibri"/>
                  </a:rPr>
                  <a:t> </a:t>
                </a:r>
                <a:r>
                  <a:rPr sz="1100" b="1" i="0" dirty="0">
                    <a:solidFill>
                      <a:srgbClr val="FFFFFF"/>
                    </a:solidFill>
                    <a:latin typeface="Calibri"/>
                  </a:rPr>
                  <a:t>Us  ·  Visitor Introduction  ·  Lebogang</a:t>
                </a:r>
                <a:r>
                  <a:rPr lang="en-GB" sz="1100" b="1" i="0" dirty="0">
                    <a:solidFill>
                      <a:srgbClr val="FFFFFF"/>
                    </a:solidFill>
                    <a:latin typeface="Calibri"/>
                  </a:rPr>
                  <a:t> Mafoko</a:t>
                </a:r>
                <a:endParaRPr sz="1100" b="1" i="0" dirty="0">
                  <a:solidFill>
                    <a:srgbClr val="FFFFFF"/>
                  </a:solidFill>
                  <a:latin typeface="Calibri"/>
                </a:endParaRPr>
              </a:p>
            </p:txBody>
          </p:sp>
        </p:grpSp>
        <p:sp>
          <p:nvSpPr>
            <p:cNvPr id="13" name="Rounded Rectangle 12"/>
            <p:cNvSpPr/>
            <p:nvPr/>
          </p:nvSpPr>
          <p:spPr>
            <a:xfrm>
              <a:off x="7159752" y="356616"/>
              <a:ext cx="2697480" cy="3337560"/>
            </a:xfrm>
            <a:prstGeom prst="roundRect">
              <a:avLst>
                <a:gd name="adj" fmla="val 4000"/>
              </a:avLst>
            </a:prstGeom>
            <a:solidFill>
              <a:srgbClr val="050D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7086600" y="265176"/>
              <a:ext cx="2697480" cy="3337560"/>
            </a:xfrm>
            <a:prstGeom prst="roundRect">
              <a:avLst>
                <a:gd name="adj" fmla="val 4000"/>
              </a:avLst>
            </a:prstGeom>
            <a:solidFill>
              <a:srgbClr val="FFFFFF"/>
            </a:solidFill>
            <a:ln w="15875">
              <a:solidFill>
                <a:srgbClr val="0B1B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086600" y="265176"/>
              <a:ext cx="2697480" cy="502920"/>
            </a:xfrm>
            <a:prstGeom prst="roundRect">
              <a:avLst>
                <a:gd name="adj" fmla="val 4000"/>
              </a:avLst>
            </a:prstGeom>
            <a:solidFill>
              <a:srgbClr val="1E8E5A"/>
            </a:solidFill>
            <a:ln>
              <a:noFill/>
            </a:ln>
            <a:effectLst/>
            <a:scene3d>
              <a:camera prst="orthographicFront"/>
              <a:lightRig rig="threePt" dir="t"/>
            </a:scene3d>
            <a:sp3d>
              <a:bevelT w="0"/>
            </a:sp3d>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109460" y="454102"/>
              <a:ext cx="2697480" cy="215444"/>
            </a:xfrm>
            <a:prstGeom prst="rect">
              <a:avLst/>
            </a:prstGeom>
            <a:noFill/>
          </p:spPr>
          <p:txBody>
            <a:bodyPr wrap="square" lIns="0" tIns="0" rIns="0" bIns="0" anchor="ctr">
              <a:spAutoFit/>
            </a:bodyPr>
            <a:lstStyle/>
            <a:p>
              <a:pPr algn="ctr"/>
              <a:r>
                <a:rPr sz="1400" b="1" i="0" dirty="0">
                  <a:solidFill>
                    <a:srgbClr val="FFFFFF"/>
                  </a:solidFill>
                  <a:latin typeface="Calibri"/>
                </a:rPr>
                <a:t>SCAN TO LEARN MORE</a:t>
              </a:r>
            </a:p>
          </p:txBody>
        </p:sp>
        <p:pic>
          <p:nvPicPr>
            <p:cNvPr id="18" name="Picture 17" descr="qr_plugapro.png"/>
            <p:cNvPicPr>
              <a:picLocks noChangeAspect="1"/>
            </p:cNvPicPr>
            <p:nvPr/>
          </p:nvPicPr>
          <p:blipFill>
            <a:blip r:embed="rId5"/>
            <a:stretch>
              <a:fillRect/>
            </a:stretch>
          </p:blipFill>
          <p:spPr>
            <a:xfrm>
              <a:off x="7589520" y="859536"/>
              <a:ext cx="1691640" cy="1691640"/>
            </a:xfrm>
            <a:prstGeom prst="rect">
              <a:avLst/>
            </a:prstGeom>
          </p:spPr>
        </p:pic>
        <p:sp>
          <p:nvSpPr>
            <p:cNvPr id="19" name="TextBox 18"/>
            <p:cNvSpPr txBox="1"/>
            <p:nvPr/>
          </p:nvSpPr>
          <p:spPr>
            <a:xfrm>
              <a:off x="7360920" y="2504463"/>
              <a:ext cx="2148840" cy="200055"/>
            </a:xfrm>
            <a:prstGeom prst="rect">
              <a:avLst/>
            </a:prstGeom>
            <a:noFill/>
          </p:spPr>
          <p:txBody>
            <a:bodyPr wrap="square" lIns="0" tIns="0" rIns="0" bIns="0" anchor="ctr">
              <a:spAutoFit/>
            </a:bodyPr>
            <a:lstStyle/>
            <a:p>
              <a:pPr algn="ctr"/>
              <a:r>
                <a:rPr sz="1300" b="0" i="1" dirty="0">
                  <a:solidFill>
                    <a:srgbClr val="6B7690"/>
                  </a:solidFill>
                  <a:latin typeface="Calibri"/>
                </a:rPr>
                <a:t>or join the local rollout</a:t>
              </a:r>
            </a:p>
          </p:txBody>
        </p:sp>
        <p:sp>
          <p:nvSpPr>
            <p:cNvPr id="20" name="Rectangle 19"/>
            <p:cNvSpPr/>
            <p:nvPr/>
          </p:nvSpPr>
          <p:spPr>
            <a:xfrm>
              <a:off x="7360920" y="2761905"/>
              <a:ext cx="2148840" cy="8000"/>
            </a:xfrm>
            <a:prstGeom prst="rect">
              <a:avLst/>
            </a:prstGeom>
            <a:solidFill>
              <a:srgbClr val="E0E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30" name="Group 29">
              <a:extLst>
                <a:ext uri="{FF2B5EF4-FFF2-40B4-BE49-F238E27FC236}">
                  <a16:creationId xmlns:a16="http://schemas.microsoft.com/office/drawing/2014/main" id="{46CAF641-A5DD-4FC8-4786-F4147583AC2C}"/>
                </a:ext>
              </a:extLst>
            </p:cNvPr>
            <p:cNvGrpSpPr/>
            <p:nvPr/>
          </p:nvGrpSpPr>
          <p:grpSpPr>
            <a:xfrm>
              <a:off x="7360920" y="2854743"/>
              <a:ext cx="2148840" cy="347472"/>
              <a:chOff x="7360920" y="3054096"/>
              <a:chExt cx="2148840" cy="347472"/>
            </a:xfrm>
          </p:grpSpPr>
          <p:sp>
            <p:nvSpPr>
              <p:cNvPr id="21" name="Rounded Rectangle 20"/>
              <p:cNvSpPr/>
              <p:nvPr/>
            </p:nvSpPr>
            <p:spPr>
              <a:xfrm>
                <a:off x="7360920" y="3054096"/>
                <a:ext cx="347472" cy="347472"/>
              </a:xfrm>
              <a:prstGeom prst="roundRect">
                <a:avLst>
                  <a:gd name="adj" fmla="val 50000"/>
                </a:avLst>
              </a:prstGeom>
              <a:solidFill>
                <a:srgbClr val="1E8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60920" y="3150888"/>
                <a:ext cx="347472" cy="153888"/>
              </a:xfrm>
              <a:prstGeom prst="rect">
                <a:avLst/>
              </a:prstGeom>
              <a:noFill/>
            </p:spPr>
            <p:txBody>
              <a:bodyPr wrap="square" lIns="0" tIns="0" rIns="0" bIns="0" anchor="ctr">
                <a:spAutoFit/>
              </a:bodyPr>
              <a:lstStyle/>
              <a:p>
                <a:pPr algn="ctr"/>
                <a:r>
                  <a:rPr sz="1000" b="1" i="0" dirty="0">
                    <a:solidFill>
                      <a:srgbClr val="FFFFFF"/>
                    </a:solidFill>
                    <a:latin typeface="Calibri"/>
                  </a:rPr>
                  <a:t>WA</a:t>
                </a:r>
              </a:p>
            </p:txBody>
          </p:sp>
          <p:sp>
            <p:nvSpPr>
              <p:cNvPr id="23" name="TextBox 22"/>
              <p:cNvSpPr txBox="1"/>
              <p:nvPr/>
            </p:nvSpPr>
            <p:spPr>
              <a:xfrm>
                <a:off x="7818120" y="3089333"/>
                <a:ext cx="1691640" cy="276999"/>
              </a:xfrm>
              <a:prstGeom prst="rect">
                <a:avLst/>
              </a:prstGeom>
              <a:noFill/>
            </p:spPr>
            <p:txBody>
              <a:bodyPr wrap="square" lIns="0" tIns="0" rIns="0" bIns="0" anchor="ctr">
                <a:spAutoFit/>
              </a:bodyPr>
              <a:lstStyle/>
              <a:p>
                <a:pPr algn="l"/>
                <a:r>
                  <a:rPr sz="1800" b="1" i="0" dirty="0">
                    <a:solidFill>
                      <a:srgbClr val="0B1B3F"/>
                    </a:solidFill>
                    <a:latin typeface="Calibri"/>
                  </a:rPr>
                  <a:t>+27 69 355 2447</a:t>
                </a:r>
              </a:p>
            </p:txBody>
          </p:sp>
        </p:grpSp>
        <p:grpSp>
          <p:nvGrpSpPr>
            <p:cNvPr id="29" name="Group 28">
              <a:extLst>
                <a:ext uri="{FF2B5EF4-FFF2-40B4-BE49-F238E27FC236}">
                  <a16:creationId xmlns:a16="http://schemas.microsoft.com/office/drawing/2014/main" id="{114D2039-BBD9-CF8B-F74E-31457C6A3A84}"/>
                </a:ext>
              </a:extLst>
            </p:cNvPr>
            <p:cNvGrpSpPr/>
            <p:nvPr/>
          </p:nvGrpSpPr>
          <p:grpSpPr>
            <a:xfrm>
              <a:off x="7383780" y="3220503"/>
              <a:ext cx="2148840" cy="347472"/>
              <a:chOff x="7360920" y="3511296"/>
              <a:chExt cx="2148840" cy="347472"/>
            </a:xfrm>
          </p:grpSpPr>
          <p:sp>
            <p:nvSpPr>
              <p:cNvPr id="24" name="Rounded Rectangle 23"/>
              <p:cNvSpPr/>
              <p:nvPr/>
            </p:nvSpPr>
            <p:spPr>
              <a:xfrm>
                <a:off x="7360920" y="3511296"/>
                <a:ext cx="347472" cy="347472"/>
              </a:xfrm>
              <a:prstGeom prst="roundRect">
                <a:avLst>
                  <a:gd name="adj" fmla="val 50000"/>
                </a:avLst>
              </a:prstGeom>
              <a:solidFill>
                <a:srgbClr val="0B1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60920" y="3615783"/>
                <a:ext cx="347472" cy="138499"/>
              </a:xfrm>
              <a:prstGeom prst="rect">
                <a:avLst/>
              </a:prstGeom>
              <a:noFill/>
            </p:spPr>
            <p:txBody>
              <a:bodyPr wrap="square" lIns="0" tIns="0" rIns="0" bIns="0" anchor="ctr">
                <a:spAutoFit/>
              </a:bodyPr>
              <a:lstStyle/>
              <a:p>
                <a:pPr algn="ctr"/>
                <a:r>
                  <a:rPr sz="900" b="1" i="0" dirty="0">
                    <a:solidFill>
                      <a:srgbClr val="FFFFFF"/>
                    </a:solidFill>
                    <a:latin typeface="Calibri"/>
                  </a:rPr>
                  <a:t>.za</a:t>
                </a:r>
              </a:p>
            </p:txBody>
          </p:sp>
          <p:sp>
            <p:nvSpPr>
              <p:cNvPr id="26" name="TextBox 25"/>
              <p:cNvSpPr txBox="1"/>
              <p:nvPr/>
            </p:nvSpPr>
            <p:spPr>
              <a:xfrm>
                <a:off x="7818120" y="3546533"/>
                <a:ext cx="1691640" cy="276999"/>
              </a:xfrm>
              <a:prstGeom prst="rect">
                <a:avLst/>
              </a:prstGeom>
              <a:noFill/>
            </p:spPr>
            <p:txBody>
              <a:bodyPr wrap="square" lIns="0" tIns="0" rIns="0" bIns="0" anchor="ctr">
                <a:spAutoFit/>
              </a:bodyPr>
              <a:lstStyle/>
              <a:p>
                <a:pPr algn="l"/>
                <a:r>
                  <a:rPr sz="1800" b="1" i="0" dirty="0" err="1">
                    <a:solidFill>
                      <a:srgbClr val="0B1B3F"/>
                    </a:solidFill>
                    <a:latin typeface="Calibri"/>
                  </a:rPr>
                  <a:t>plugapro.co.za</a:t>
                </a:r>
                <a:endParaRPr sz="1800" b="1" i="0" dirty="0">
                  <a:solidFill>
                    <a:srgbClr val="0B1B3F"/>
                  </a:solidFill>
                  <a:latin typeface="Calibri"/>
                </a:endParaRPr>
              </a:p>
            </p:txBody>
          </p:sp>
        </p:grpSp>
        <p:pic>
          <p:nvPicPr>
            <p:cNvPr id="35" name="Picture 34">
              <a:extLst>
                <a:ext uri="{FF2B5EF4-FFF2-40B4-BE49-F238E27FC236}">
                  <a16:creationId xmlns:a16="http://schemas.microsoft.com/office/drawing/2014/main" id="{875A1061-20BE-1583-DC93-1F96A48DAB91}"/>
                </a:ext>
              </a:extLst>
            </p:cNvPr>
            <p:cNvPicPr>
              <a:picLocks noChangeAspect="1"/>
            </p:cNvPicPr>
            <p:nvPr/>
          </p:nvPicPr>
          <p:blipFill>
            <a:blip r:embed="rId6"/>
            <a:stretch>
              <a:fillRect/>
            </a:stretch>
          </p:blipFill>
          <p:spPr>
            <a:xfrm>
              <a:off x="334682" y="35447"/>
              <a:ext cx="1390939" cy="1465297"/>
            </a:xfrm>
            <a:prstGeom prst="rect">
              <a:avLst/>
            </a:prstGeom>
          </p:spPr>
        </p:pic>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218</Words>
  <Application>Microsoft Macintosh PowerPoint</Application>
  <PresentationFormat>Widescreen</PresentationFormat>
  <Paragraphs>19</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Lebogang Mafoko</cp:lastModifiedBy>
  <cp:revision>7</cp:revision>
  <dcterms:created xsi:type="dcterms:W3CDTF">2013-01-27T09:14:16Z</dcterms:created>
  <dcterms:modified xsi:type="dcterms:W3CDTF">2026-06-18T18:02:26Z</dcterms:modified>
  <cp:category/>
</cp:coreProperties>
</file>